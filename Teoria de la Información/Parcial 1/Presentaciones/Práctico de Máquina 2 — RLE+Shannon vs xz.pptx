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12192000"/>
  <p:embeddedFontLst>
    <p:embeddedFont>
      <p:font typeface="IBM Plex Sans"/>
      <p:regular r:id="rId18"/>
      <p:bold r:id="rId19"/>
      <p:italic r:id="rId20"/>
      <p:boldItalic r:id="rId21"/>
    </p:embeddedFont>
    <p:embeddedFont>
      <p:font typeface="JetBrains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jilyqbK1LiDUMcDJtkkENLo1Lz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BD512EA-E9FF-46A0-B4CD-CC2894EAC613}">
  <a:tblStyle styleId="{CBD512EA-E9FF-46A0-B4CD-CC2894EAC61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BMPlexSans-italic.fntdata"/><Relationship Id="rId22" Type="http://schemas.openxmlformats.org/officeDocument/2006/relationships/font" Target="fonts/JetBrainsMono-regular.fntdata"/><Relationship Id="rId21" Type="http://schemas.openxmlformats.org/officeDocument/2006/relationships/font" Target="fonts/IBMPlexSans-boldItalic.fntdata"/><Relationship Id="rId24" Type="http://schemas.openxmlformats.org/officeDocument/2006/relationships/font" Target="fonts/JetBrainsMono-italic.fntdata"/><Relationship Id="rId23" Type="http://schemas.openxmlformats.org/officeDocument/2006/relationships/font" Target="fonts/JetBrainsMon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JetBrains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IBMPlexSans-bold.fntdata"/><Relationship Id="rId18" Type="http://schemas.openxmlformats.org/officeDocument/2006/relationships/font" Target="fonts/IBMPlex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Apertura rápida (30s). Saludar, presentar al grupo por nombre, y arrancar directo al guión — no te quedes en esta slide.</a:t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Mostrar esta tabla rápido (30s), sin leerla entera — es referencia para el grupo, no hace falta detenerse.</a:t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1:30. Marcar que las tres soluciones se corren sobre el mismo corpus oficial de la cátedra, para que la comparación sea justa.</a:t>
            </a:r>
            <a:endParaRPr/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1:30. Señalar con el dedo cada caja mientras se nombra. No entrar en la demostración matemática del código canónico, eso ya quedó documentado en el repo.</a:t>
            </a:r>
            <a:endParaRPr/>
          </a:p>
        </p:txBody>
      </p:sp>
      <p:sp>
        <p:nvSpPr>
          <p:cNvPr id="59" name="Google Shape;5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1:00. El dato del costo de cabecera en archivos chicos conecta directo con lo que van a ver en la demo del punto 3.</a:t>
            </a:r>
            <a:endParaRPr/>
          </a:p>
        </p:txBody>
      </p:sp>
      <p:sp>
        <p:nvSpPr>
          <p:cNvPr id="88" name="Google Shape;8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3:00. Tener la terminal abierta y corrida de antemano una vez (warm-up) para evitar demoras de import. Ejecutar compressor.py y decompressor.py en vivo; esta slide es el respaldo si algo falla.</a:t>
            </a:r>
            <a:endParaRPr/>
          </a:p>
        </p:txBody>
      </p:sp>
      <p:sp>
        <p:nvSpPr>
          <p:cNvPr id="102" name="Google Shape;1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1:00. Es el mismo hash que ya vieron correr en la terminal del punto anterior, ahora puesto lado a lado.</a:t>
            </a:r>
            <a:endParaRPr/>
          </a:p>
        </p:txBody>
      </p:sp>
      <p:sp>
        <p:nvSpPr>
          <p:cNvPr id="118" name="Google Shape;11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2:00. No leer cada número — señalar el patrón: xz gana siempre en ratio, la brecha se achica en alta repetición y desaparece en baja repetición.</a:t>
            </a:r>
            <a:endParaRPr/>
          </a:p>
        </p:txBody>
      </p:sp>
      <p:sp>
        <p:nvSpPr>
          <p:cNvPr id="135" name="Google Shape;13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1:30. Remarcar la aclaración del final: no mezclar "más lento" con "peor algoritmo" — hay una diferencia de lenguaje de implementación de por medio.</a:t>
            </a:r>
            <a:endParaRPr/>
          </a:p>
        </p:txBody>
      </p:sp>
      <p:sp>
        <p:nvSpPr>
          <p:cNvPr id="146" name="Google Shape;14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1:30. Global calculado sobre Pruebas 2, 3 y 4 (la 1 queda fuera del ranking temporal, según el enunciado). Insistir en la aclaración final: es el punto que más se presta a confusión.</a:t>
            </a:r>
            <a:endParaRPr/>
          </a:p>
        </p:txBody>
      </p:sp>
      <p:sp>
        <p:nvSpPr>
          <p:cNvPr id="171" name="Google Shape;17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2:30. Este es el punto más conceptual del guión — tomarse el tiempo acá. La caja punteada es un placeholder: actualizarla con los datos reales de la planilla global antes de la entrega.</a:t>
            </a:r>
            <a:endParaRPr/>
          </a:p>
        </p:txBody>
      </p:sp>
      <p:sp>
        <p:nvSpPr>
          <p:cNvPr id="190" name="Google Shape;19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1:00. Cierre a cargo de Baltasar. Abrir a preguntas del resto del curso.</a:t>
            </a:r>
            <a:endParaRPr/>
          </a:p>
        </p:txBody>
      </p:sp>
      <p:sp>
        <p:nvSpPr>
          <p:cNvPr id="211" name="Google Shape;21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F6F5F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4"/>
          <p:cNvSpPr txBox="1"/>
          <p:nvPr>
            <p:ph type="title"/>
          </p:nvPr>
        </p:nvSpPr>
        <p:spPr>
          <a:xfrm>
            <a:off x="812800" y="1127720"/>
            <a:ext cx="10566400" cy="446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D22"/>
              </a:buClr>
              <a:buSzPts val="3200"/>
              <a:buFont typeface="IBM Plex Sans"/>
              <a:buNone/>
              <a:defRPr sz="3200">
                <a:solidFill>
                  <a:srgbClr val="1A1D2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" type="body"/>
          </p:nvPr>
        </p:nvSpPr>
        <p:spPr>
          <a:xfrm>
            <a:off x="812800" y="1879501"/>
            <a:ext cx="10566400" cy="4165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A1D22"/>
              </a:buClr>
              <a:buSzPts val="1600"/>
              <a:buNone/>
              <a:defRPr sz="1600">
                <a:solidFill>
                  <a:srgbClr val="1A1D2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12800" y="1127720"/>
            <a:ext cx="10566400" cy="446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D22"/>
              </a:buClr>
              <a:buSzPts val="3200"/>
              <a:buFont typeface="IBM Plex Sans"/>
              <a:buNone/>
              <a:defRPr b="0" i="0" sz="3200" u="none" cap="none" strike="noStrike">
                <a:solidFill>
                  <a:srgbClr val="1A1D2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12800" y="1879501"/>
            <a:ext cx="10566400" cy="4165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A1D22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1A1D2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51C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8B3F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D98B3F"/>
                </a:solidFill>
                <a:latin typeface="IBM Plex Sans"/>
                <a:ea typeface="IBM Plex Sans"/>
                <a:cs typeface="IBM Plex Sans"/>
                <a:sym typeface="IBM Plex Sans"/>
              </a:rPr>
              <a:t>TEORÍA DE LA INFORMACIÓN · 2026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" name="Google Shape;22;p1"/>
          <p:cNvSpPr txBox="1"/>
          <p:nvPr>
            <p:ph type="title"/>
          </p:nvPr>
        </p:nvSpPr>
        <p:spPr>
          <a:xfrm>
            <a:off x="812800" y="1214041"/>
            <a:ext cx="10883392" cy="1287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6F5F1"/>
              </a:buClr>
              <a:buSzPts val="4600"/>
              <a:buFont typeface="IBM Plex Sans"/>
              <a:buNone/>
            </a:pPr>
            <a:r>
              <a:rPr b="1" i="0" lang="en-US" sz="4600">
                <a:solidFill>
                  <a:srgbClr val="F6F5F1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Desafío de Proveedores</a:t>
            </a:r>
            <a:endParaRPr sz="4600"/>
          </a:p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6F5F1"/>
              </a:buClr>
              <a:buSzPts val="4600"/>
              <a:buFont typeface="IBM Plex Sans"/>
              <a:buNone/>
            </a:pPr>
            <a:r>
              <a:rPr b="1" i="0" lang="en-US" sz="4600">
                <a:solidFill>
                  <a:srgbClr val="F6F5F1"/>
                </a:solidFill>
                <a:latin typeface="IBM Plex Sans"/>
                <a:ea typeface="IBM Plex Sans"/>
                <a:cs typeface="IBM Plex Sans"/>
                <a:sym typeface="IBM Plex Sans"/>
              </a:rPr>
              <a:t>de Compresión</a:t>
            </a:r>
            <a:endParaRPr sz="4600"/>
          </a:p>
        </p:txBody>
      </p:sp>
      <p:sp>
        <p:nvSpPr>
          <p:cNvPr id="23" name="Google Shape;23;p1"/>
          <p:cNvSpPr/>
          <p:nvPr/>
        </p:nvSpPr>
        <p:spPr>
          <a:xfrm>
            <a:off x="812800" y="2628305"/>
            <a:ext cx="10883392" cy="642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9C2CC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B9C2CC"/>
                </a:solidFill>
                <a:latin typeface="IBM Plex Sans"/>
                <a:ea typeface="IBM Plex Sans"/>
                <a:cs typeface="IBM Plex Sans"/>
                <a:sym typeface="IBM Plex Sans"/>
              </a:rPr>
              <a:t>Práctico de Máquina 2 — Grupo 10</a:t>
            </a:r>
            <a:endParaRPr b="0"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B9C2CC"/>
              </a:buClr>
              <a:buSzPts val="1800"/>
              <a:buFont typeface="IBM Plex Sans"/>
              <a:buNone/>
            </a:pPr>
            <a:r>
              <a:rPr b="0" i="0" lang="en-US" sz="1800" u="none" cap="none" strike="noStrike">
                <a:solidFill>
                  <a:srgbClr val="B9C2CC"/>
                </a:solidFill>
                <a:latin typeface="IBM Plex Sans"/>
                <a:ea typeface="IBM Plex Sans"/>
                <a:cs typeface="IBM Plex Sans"/>
                <a:sym typeface="IBM Plex Sans"/>
              </a:rPr>
              <a:t>Solución propia: RLE + Shannon · Solución de mercado: xz</a:t>
            </a:r>
            <a:endParaRPr b="0" i="0" sz="1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12800" y="5549999"/>
            <a:ext cx="588895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2CC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B9C2CC"/>
                </a:solidFill>
                <a:latin typeface="IBM Plex Sans"/>
                <a:ea typeface="IBM Plex Sans"/>
                <a:cs typeface="IBM Plex Sans"/>
                <a:sym typeface="IBM Plex Sans"/>
              </a:rPr>
              <a:t>Baltasar Ortiz · Gonzalo Balderrama · Martin Coto · Octavio Garello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812800" y="5831880"/>
            <a:ext cx="505468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684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6B7684"/>
                </a:solidFill>
                <a:latin typeface="IBM Plex Sans"/>
                <a:ea typeface="IBM Plex Sans"/>
                <a:cs typeface="IBM Plex Sans"/>
                <a:sym typeface="IBM Plex Sans"/>
              </a:rPr>
              <a:t>Licenciatura en Ciencias de la Computación — UNSJ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6F5F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8B3F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D98B3F"/>
                </a:solidFill>
                <a:latin typeface="IBM Plex Sans"/>
                <a:ea typeface="IBM Plex Sans"/>
                <a:cs typeface="IBM Plex Sans"/>
                <a:sym typeface="IBM Plex Sans"/>
              </a:rPr>
              <a:t>GUIÓN DE LA PRESENTACIÓN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2" name="Google Shape;32;p2"/>
          <p:cNvSpPr txBox="1"/>
          <p:nvPr>
            <p:ph type="title"/>
          </p:nvPr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D22"/>
              </a:buClr>
              <a:buSzPts val="3200"/>
              <a:buFont typeface="IBM Plex Sans"/>
              <a:buNone/>
            </a:pPr>
            <a:r>
              <a:rPr b="1" i="0" lang="en-US" sz="3200">
                <a:solidFill>
                  <a:srgbClr val="1A1D22"/>
                </a:solidFill>
                <a:latin typeface="IBM Plex Sans"/>
                <a:ea typeface="IBM Plex Sans"/>
                <a:cs typeface="IBM Plex Sans"/>
                <a:sym typeface="IBM Plex Sans"/>
              </a:rPr>
              <a:t>Agenda — 20 minutos</a:t>
            </a:r>
            <a:endParaRPr sz="3200"/>
          </a:p>
        </p:txBody>
      </p:sp>
      <p:graphicFrame>
        <p:nvGraphicFramePr>
          <p:cNvPr id="33" name="Google Shape;33;p2"/>
          <p:cNvGraphicFramePr/>
          <p:nvPr/>
        </p:nvGraphicFramePr>
        <p:xfrm>
          <a:off x="825500" y="18414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{CBD512EA-E9FF-46A0-B4CD-CC2894EAC613}</a:tableStyleId>
              </a:tblPr>
              <a:tblGrid>
                <a:gridCol w="844300"/>
                <a:gridCol w="4854700"/>
                <a:gridCol w="2955025"/>
                <a:gridCol w="1899675"/>
              </a:tblGrid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4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6B7684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#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4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6B7684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Tema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4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6B7684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Presenta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4"/>
                        </a:buClr>
                        <a:buSzPts val="1400"/>
                        <a:buFont typeface="IBM Plex San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6B7684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Tiempo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3DF"/>
                    </a:solidFill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8B3F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D98B3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Nosotros como proveedor: dos soluciones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Baltasar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1:30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8B3F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D98B3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Algoritmo propio y metadatos (.tdi)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Gonzalo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2:30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7"/>
                    </a:solidFill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8B3F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D98B3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Demo real: comprimir y descomprimir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Martín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3:00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8B3F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D98B3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Integridad byte a byte (SHA-256)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Martín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1:00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7"/>
                    </a:solidFill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8B3F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D98B3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Tabla comparativa: propio vs. xz vs. gzip-6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Octavio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2:00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8B3F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D98B3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Métricas, throughput y Weissman Score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Octavio / Gonzalo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3:00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7"/>
                    </a:solidFill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8B3F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D98B3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Qué tipo de dato favorece a cada algoritmo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Baltasar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2:30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8B3F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D98B3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—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Cierre y preguntas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Baltasar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400"/>
                        <a:buFont typeface="IBM Plex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1:00</a:t>
                      </a:r>
                      <a:endParaRPr sz="140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7"/>
                    </a:solidFill>
                  </a:tcPr>
                </a:tc>
              </a:tr>
            </a:tbl>
          </a:graphicData>
        </a:graphic>
      </p:graphicFrame>
      <p:sp>
        <p:nvSpPr>
          <p:cNvPr id="34" name="Google Shape;34;p2"/>
          <p:cNvSpPr/>
          <p:nvPr/>
        </p:nvSpPr>
        <p:spPr>
          <a:xfrm>
            <a:off x="812800" y="6238280"/>
            <a:ext cx="281547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93A0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8A93A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Práctico de Máquina 2 — Grupo 10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8B3F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D98B3F"/>
                </a:solidFill>
                <a:latin typeface="IBM Plex Sans"/>
                <a:ea typeface="IBM Plex Sans"/>
                <a:cs typeface="IBM Plex Sans"/>
                <a:sym typeface="IBM Plex Sans"/>
              </a:rPr>
              <a:t>PUNTO 1 · ESCENARIO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1" name="Google Shape;41;p3"/>
          <p:cNvSpPr txBox="1"/>
          <p:nvPr>
            <p:ph type="title"/>
          </p:nvPr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D22"/>
              </a:buClr>
              <a:buSzPts val="3200"/>
              <a:buFont typeface="IBM Plex Sans"/>
              <a:buNone/>
            </a:pPr>
            <a:r>
              <a:rPr b="1" i="0" lang="en-US" sz="3200">
                <a:solidFill>
                  <a:srgbClr val="1A1D22"/>
                </a:solidFill>
                <a:latin typeface="IBM Plex Sans"/>
                <a:ea typeface="IBM Plex Sans"/>
                <a:cs typeface="IBM Plex Sans"/>
                <a:sym typeface="IBM Plex Sans"/>
              </a:rPr>
              <a:t>Grupo 10 como proveedor de compresión</a:t>
            </a:r>
            <a:endParaRPr sz="3200"/>
          </a:p>
        </p:txBody>
      </p:sp>
      <p:sp>
        <p:nvSpPr>
          <p:cNvPr id="42" name="Google Shape;42;p3"/>
          <p:cNvSpPr/>
          <p:nvPr/>
        </p:nvSpPr>
        <p:spPr>
          <a:xfrm>
            <a:off x="812800" y="1676301"/>
            <a:ext cx="10883392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0"/>
              <a:buFont typeface="IBM Plex Sans"/>
              <a:buNone/>
            </a:pPr>
            <a:r>
              <a:rPr b="0" i="0" lang="en-US" sz="15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Cada grupo ofrece dos soluciones evaluadas sobre el mismo corpus, más un baseline común de la cátedra.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815975" y="2200176"/>
            <a:ext cx="3380284" cy="1959372"/>
          </a:xfrm>
          <a:prstGeom prst="roundRect">
            <a:avLst>
              <a:gd fmla="val 5023" name="adj"/>
            </a:avLst>
          </a:prstGeom>
          <a:solidFill>
            <a:srgbClr val="FCFBF7"/>
          </a:solidFill>
          <a:ln cap="flat" cmpd="sng" w="9525">
            <a:solidFill>
              <a:srgbClr val="E4E1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ode" id="44" name="Google Shape;4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3150" y="2457351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3"/>
          <p:cNvSpPr/>
          <p:nvPr/>
        </p:nvSpPr>
        <p:spPr>
          <a:xfrm>
            <a:off x="1073150" y="2863751"/>
            <a:ext cx="2951912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D22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A1D22"/>
                </a:solidFill>
                <a:latin typeface="IBM Plex Sans"/>
                <a:ea typeface="IBM Plex Sans"/>
                <a:cs typeface="IBM Plex Sans"/>
                <a:sym typeface="IBM Plex Sans"/>
              </a:rPr>
              <a:t>Solución propia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1073150" y="3209131"/>
            <a:ext cx="2951912" cy="718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RLE + Shannon, implementada desde cero por el grupo. Asignada por sorteo (Sorteo A).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405809" y="2200176"/>
            <a:ext cx="3380383" cy="1959372"/>
          </a:xfrm>
          <a:prstGeom prst="roundRect">
            <a:avLst>
              <a:gd fmla="val 5023" name="adj"/>
            </a:avLst>
          </a:prstGeom>
          <a:solidFill>
            <a:srgbClr val="FCFBF7"/>
          </a:solidFill>
          <a:ln cap="flat" cmpd="sng" w="9525">
            <a:solidFill>
              <a:srgbClr val="E4E1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loud" id="48" name="Google Shape;4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2984" y="2457351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"/>
          <p:cNvSpPr/>
          <p:nvPr/>
        </p:nvSpPr>
        <p:spPr>
          <a:xfrm>
            <a:off x="4662984" y="2863751"/>
            <a:ext cx="2952014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D22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A1D22"/>
                </a:solidFill>
                <a:latin typeface="IBM Plex Sans"/>
                <a:ea typeface="IBM Plex Sans"/>
                <a:cs typeface="IBM Plex Sans"/>
                <a:sym typeface="IBM Plex Sans"/>
              </a:rPr>
              <a:t>Solución de mercado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662984" y="3209131"/>
            <a:ext cx="2952014" cy="718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xz (XZ / LZMA2), nivel 6. No se implementa: se usa la herramienta oficial. Asignada por sorteo (Sorteo B).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7995741" y="2200176"/>
            <a:ext cx="3380284" cy="1959372"/>
          </a:xfrm>
          <a:prstGeom prst="roundRect">
            <a:avLst>
              <a:gd fmla="val 5023" name="adj"/>
            </a:avLst>
          </a:prstGeom>
          <a:solidFill>
            <a:srgbClr val="FCFBF7"/>
          </a:solidFill>
          <a:ln cap="flat" cmpd="sng" w="9525">
            <a:solidFill>
              <a:srgbClr val="E4E1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Settings" id="52" name="Google Shape;5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52916" y="2457351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/>
          <p:nvPr/>
        </p:nvSpPr>
        <p:spPr>
          <a:xfrm>
            <a:off x="8252916" y="2863751"/>
            <a:ext cx="2951912" cy="269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D22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1A1D22"/>
                </a:solidFill>
                <a:latin typeface="IBM Plex Sans"/>
                <a:ea typeface="IBM Plex Sans"/>
                <a:cs typeface="IBM Plex Sans"/>
                <a:sym typeface="IBM Plex Sans"/>
              </a:rPr>
              <a:t>Cátedra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8252916" y="3209131"/>
            <a:ext cx="2951912" cy="718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gzip -n -6, igual para todos los grupos. Referencia común para el Weissman Score.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812800" y="6238280"/>
            <a:ext cx="281547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93A0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8A93A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Práctico de Máquina 2 — Grupo 10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8B3F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D98B3F"/>
                </a:solidFill>
                <a:latin typeface="IBM Plex Sans"/>
                <a:ea typeface="IBM Plex Sans"/>
                <a:cs typeface="IBM Plex Sans"/>
                <a:sym typeface="IBM Plex Sans"/>
              </a:rPr>
              <a:t>PUNTO 2 · ALGORITMO PROPIO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2" name="Google Shape;62;p4"/>
          <p:cNvSpPr txBox="1"/>
          <p:nvPr>
            <p:ph type="title"/>
          </p:nvPr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D22"/>
              </a:buClr>
              <a:buSzPts val="3200"/>
              <a:buFont typeface="IBM Plex Sans"/>
              <a:buNone/>
            </a:pPr>
            <a:r>
              <a:rPr b="1" i="0" lang="en-US" sz="3200">
                <a:solidFill>
                  <a:srgbClr val="1A1D22"/>
                </a:solidFill>
                <a:latin typeface="IBM Plex Sans"/>
                <a:ea typeface="IBM Plex Sans"/>
                <a:cs typeface="IBM Plex Sans"/>
                <a:sym typeface="IBM Plex Sans"/>
              </a:rPr>
              <a:t>Pipeline: RLE + Shannon canónico</a:t>
            </a:r>
            <a:endParaRPr sz="3200"/>
          </a:p>
        </p:txBody>
      </p:sp>
      <p:sp>
        <p:nvSpPr>
          <p:cNvPr id="63" name="Google Shape;63;p4"/>
          <p:cNvSpPr/>
          <p:nvPr/>
        </p:nvSpPr>
        <p:spPr>
          <a:xfrm>
            <a:off x="815975" y="2048966"/>
            <a:ext cx="1662410" cy="1281311"/>
          </a:xfrm>
          <a:prstGeom prst="roundRect">
            <a:avLst>
              <a:gd fmla="val 7682" name="adj"/>
            </a:avLst>
          </a:prstGeom>
          <a:solidFill>
            <a:srgbClr val="FCFBF7"/>
          </a:solidFill>
          <a:ln cap="flat" cmpd="sng" w="9525">
            <a:solidFill>
              <a:srgbClr val="E4E1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915124" y="2255341"/>
            <a:ext cx="1464112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D22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1A1D22"/>
                </a:solidFill>
                <a:latin typeface="IBM Plex Sans"/>
                <a:ea typeface="IBM Plex Sans"/>
                <a:cs typeface="IBM Plex Sans"/>
                <a:sym typeface="IBM Plex Sans"/>
              </a:rPr>
              <a:t>Bytes originales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996950" y="2537222"/>
            <a:ext cx="1300460" cy="612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IBM Plex Sans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secuencia de bytes del archivo de entrada</a:t>
            </a:r>
            <a:endParaRPr b="0" i="0" sz="11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arrow-right" id="66" name="Google Shape;6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3160" y="2613422"/>
            <a:ext cx="3556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4"/>
          <p:cNvSpPr/>
          <p:nvPr/>
        </p:nvSpPr>
        <p:spPr>
          <a:xfrm>
            <a:off x="3043535" y="2146796"/>
            <a:ext cx="1662509" cy="1085751"/>
          </a:xfrm>
          <a:prstGeom prst="roundRect">
            <a:avLst>
              <a:gd fmla="val 9065" name="adj"/>
            </a:avLst>
          </a:prstGeom>
          <a:solidFill>
            <a:srgbClr val="FCFBF7"/>
          </a:solidFill>
          <a:ln cap="flat" cmpd="sng" w="9525">
            <a:solidFill>
              <a:srgbClr val="E4E1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3697873" y="2353171"/>
            <a:ext cx="353735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D22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1A1D22"/>
                </a:solidFill>
                <a:latin typeface="IBM Plex Sans"/>
                <a:ea typeface="IBM Plex Sans"/>
                <a:cs typeface="IBM Plex Sans"/>
                <a:sym typeface="IBM Plex Sans"/>
              </a:rPr>
              <a:t>RLE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3224510" y="2635052"/>
            <a:ext cx="1300559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IBM Plex Sans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rachas de 1 a 256 repeticiones</a:t>
            </a:r>
            <a:endParaRPr b="0" i="0" sz="11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arrow-right" id="70" name="Google Shape;7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20" y="2613422"/>
            <a:ext cx="3556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4"/>
          <p:cNvSpPr/>
          <p:nvPr/>
        </p:nvSpPr>
        <p:spPr>
          <a:xfrm>
            <a:off x="5271195" y="2031206"/>
            <a:ext cx="1662410" cy="1316831"/>
          </a:xfrm>
          <a:prstGeom prst="roundRect">
            <a:avLst>
              <a:gd fmla="val 7474" name="adj"/>
            </a:avLst>
          </a:prstGeom>
          <a:solidFill>
            <a:srgbClr val="FCFBF7"/>
          </a:solidFill>
          <a:ln cap="flat" cmpd="sng" w="9525">
            <a:solidFill>
              <a:srgbClr val="E4E1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5452170" y="2237581"/>
            <a:ext cx="1300460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D22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1A1D22"/>
                </a:solidFill>
                <a:latin typeface="IBM Plex Sans"/>
                <a:ea typeface="IBM Plex Sans"/>
                <a:cs typeface="IBM Plex Sans"/>
                <a:sym typeface="IBM Plex Sans"/>
              </a:rPr>
              <a:t>symbols[] / runs[]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5452170" y="2750542"/>
            <a:ext cx="1300460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IBM Plex Sans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dos streams paralelos</a:t>
            </a:r>
            <a:endParaRPr b="0" i="0" sz="11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arrow-right" id="74" name="Google Shape;7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8380" y="2613422"/>
            <a:ext cx="3556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4"/>
          <p:cNvSpPr/>
          <p:nvPr/>
        </p:nvSpPr>
        <p:spPr>
          <a:xfrm>
            <a:off x="7498755" y="1933476"/>
            <a:ext cx="1662410" cy="1512391"/>
          </a:xfrm>
          <a:prstGeom prst="roundRect">
            <a:avLst>
              <a:gd fmla="val 6508" name="adj"/>
            </a:avLst>
          </a:prstGeom>
          <a:solidFill>
            <a:srgbClr val="FCFBF7"/>
          </a:solidFill>
          <a:ln cap="flat" cmpd="sng" w="9525">
            <a:solidFill>
              <a:srgbClr val="E4E1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7679730" y="2139851"/>
            <a:ext cx="1300460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D22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1A1D22"/>
                </a:solidFill>
                <a:latin typeface="IBM Plex Sans"/>
                <a:ea typeface="IBM Plex Sans"/>
                <a:cs typeface="IBM Plex Sans"/>
                <a:sym typeface="IBM Plex Sans"/>
              </a:rPr>
              <a:t>Shannon canónico ×2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7679730" y="2652812"/>
            <a:ext cx="1300460" cy="612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00"/>
              <a:buFont typeface="IBM Plex Sans"/>
              <a:buNone/>
            </a:pPr>
            <a:r>
              <a:rPr b="0" i="0" lang="en-US" sz="11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tabla independiente por stream</a:t>
            </a:r>
            <a:endParaRPr b="0" i="0" sz="11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arrow-right" id="78" name="Google Shape;7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65940" y="2613422"/>
            <a:ext cx="3556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"/>
          <p:cNvSpPr/>
          <p:nvPr/>
        </p:nvSpPr>
        <p:spPr>
          <a:xfrm>
            <a:off x="9723140" y="2149971"/>
            <a:ext cx="1656060" cy="1079401"/>
          </a:xfrm>
          <a:prstGeom prst="roundRect">
            <a:avLst>
              <a:gd fmla="val 9413" name="adj"/>
            </a:avLst>
          </a:prstGeom>
          <a:solidFill>
            <a:srgbClr val="1115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10039975" y="2353171"/>
            <a:ext cx="102239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5F1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F6F5F1"/>
                </a:solidFill>
                <a:latin typeface="IBM Plex Sans"/>
                <a:ea typeface="IBM Plex Sans"/>
                <a:cs typeface="IBM Plex Sans"/>
                <a:sym typeface="IBM Plex Sans"/>
              </a:rPr>
              <a:t>archivo .tdi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9900940" y="2635052"/>
            <a:ext cx="1300460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2CC"/>
              </a:buClr>
              <a:buSzPts val="1100"/>
              <a:buFont typeface="IBM Plex Sans"/>
              <a:buNone/>
            </a:pPr>
            <a:r>
              <a:rPr b="0" i="0" lang="en-US" sz="1100" u="none" cap="none" strike="noStrike">
                <a:solidFill>
                  <a:srgbClr val="B9C2CC"/>
                </a:solidFill>
                <a:latin typeface="IBM Plex Sans"/>
                <a:ea typeface="IBM Plex Sans"/>
                <a:cs typeface="IBM Plex Sans"/>
                <a:sym typeface="IBM Plex Sans"/>
              </a:rPr>
              <a:t>cabecera + bitstream</a:t>
            </a:r>
            <a:endParaRPr b="0" i="0" sz="11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812800" y="3804642"/>
            <a:ext cx="5337048" cy="718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¿Por qué dos tablas Shannon?</a:t>
            </a:r>
            <a:r>
              <a:rPr b="0" i="0" lang="en-US" sz="13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 Símbolos y rachas tienen distribuciones de probabilidad distintas; usar una tabla por stream da códigos más ajustados que mezclar ambas.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6197600" y="3804642"/>
            <a:ext cx="5337048" cy="718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¿Por qué "canónico"?</a:t>
            </a:r>
            <a:r>
              <a:rPr b="0" i="0" lang="en-US" sz="13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 Las longitudes salen de la fórmula de Shannon (⌈−log₂p⌉); los bits concretos se asignan por numeración canónica, así el descompresor reconstruye el código solo con las longitudes.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812800" y="6238280"/>
            <a:ext cx="281547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93A0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8A93A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Práctico de Máquina 2 — Grupo 10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8B3F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D98B3F"/>
                </a:solidFill>
                <a:latin typeface="IBM Plex Sans"/>
                <a:ea typeface="IBM Plex Sans"/>
                <a:cs typeface="IBM Plex Sans"/>
                <a:sym typeface="IBM Plex Sans"/>
              </a:rPr>
              <a:t>PUNTO 2 · METADATOS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1" name="Google Shape;91;p5"/>
          <p:cNvSpPr txBox="1"/>
          <p:nvPr>
            <p:ph type="title"/>
          </p:nvPr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D22"/>
              </a:buClr>
              <a:buSzPts val="3200"/>
              <a:buFont typeface="IBM Plex Sans"/>
              <a:buNone/>
            </a:pPr>
            <a:r>
              <a:rPr b="1" i="0" lang="en-US" sz="3200">
                <a:solidFill>
                  <a:srgbClr val="1A1D22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formato .tdi es autocontenido</a:t>
            </a:r>
            <a:endParaRPr sz="3200"/>
          </a:p>
        </p:txBody>
      </p:sp>
      <p:sp>
        <p:nvSpPr>
          <p:cNvPr id="92" name="Google Shape;92;p5"/>
          <p:cNvSpPr/>
          <p:nvPr/>
        </p:nvSpPr>
        <p:spPr>
          <a:xfrm>
            <a:off x="812800" y="1676301"/>
            <a:ext cx="10883392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descompresor </a:t>
            </a:r>
            <a:r>
              <a:rPr b="1" i="0" lang="en-US" sz="14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nunca</a:t>
            </a:r>
            <a:r>
              <a:rPr b="0" i="0" lang="en-US" sz="14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 necesita el archivo original — toda la información vive en la cabecera.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93" name="Google Shape;93;p5"/>
          <p:cNvGraphicFramePr/>
          <p:nvPr/>
        </p:nvGraphicFramePr>
        <p:xfrm>
          <a:off x="825500" y="21918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{CBD512EA-E9FF-46A0-B4CD-CC2894EAC613}</a:tableStyleId>
              </a:tblPr>
              <a:tblGrid>
                <a:gridCol w="2596400"/>
                <a:gridCol w="1161550"/>
                <a:gridCol w="3074675"/>
              </a:tblGrid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4"/>
                        </a:buClr>
                        <a:buSzPts val="1200"/>
                        <a:buFont typeface="JetBrains Mono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6B7684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Campo</a:t>
                      </a:r>
                      <a:endParaRPr sz="1200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4"/>
                        </a:buClr>
                        <a:buSzPts val="1200"/>
                        <a:buFont typeface="JetBrains Mono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6B7684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Tamaño</a:t>
                      </a:r>
                      <a:endParaRPr sz="1200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4"/>
                        </a:buClr>
                        <a:buSzPts val="1200"/>
                        <a:buFont typeface="JetBrains Mono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6B7684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Contenido</a:t>
                      </a:r>
                      <a:endParaRPr sz="1200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3DF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200"/>
                        <a:buFont typeface="JetBrains Mono"/>
                        <a:buNone/>
                      </a:pPr>
                      <a:r>
                        <a:rPr lang="en-US" sz="1200" u="none" cap="none" strike="noStrike">
                          <a:solidFill>
                            <a:srgbClr val="1A1D22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magic</a:t>
                      </a:r>
                      <a:endParaRPr sz="1200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200"/>
                        <a:buFont typeface="JetBrains Mono"/>
                        <a:buNone/>
                      </a:pPr>
                      <a:r>
                        <a:rPr lang="en-US" sz="1200" u="none" cap="none" strike="noStrike">
                          <a:solidFill>
                            <a:srgbClr val="1A1D22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4 B</a:t>
                      </a:r>
                      <a:endParaRPr sz="1200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200"/>
                        <a:buFont typeface="JetBrains Mono"/>
                        <a:buNone/>
                      </a:pPr>
                      <a:r>
                        <a:rPr lang="en-US" sz="1200" u="none" cap="none" strike="noStrike">
                          <a:solidFill>
                            <a:srgbClr val="1A1D22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identifica el formato</a:t>
                      </a:r>
                      <a:endParaRPr sz="1200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200"/>
                        <a:buFont typeface="JetBrains Mono"/>
                        <a:buNone/>
                      </a:pPr>
                      <a:r>
                        <a:rPr lang="en-US" sz="1200" u="none" cap="none" strike="noStrike">
                          <a:solidFill>
                            <a:srgbClr val="1A1D22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original_size</a:t>
                      </a:r>
                      <a:endParaRPr sz="1200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200"/>
                        <a:buFont typeface="JetBrains Mono"/>
                        <a:buNone/>
                      </a:pPr>
                      <a:r>
                        <a:rPr lang="en-US" sz="1200" u="none" cap="none" strike="noStrike">
                          <a:solidFill>
                            <a:srgbClr val="1A1D22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 B</a:t>
                      </a:r>
                      <a:endParaRPr sz="1200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200"/>
                        <a:buFont typeface="JetBrains Mono"/>
                        <a:buNone/>
                      </a:pPr>
                      <a:r>
                        <a:rPr lang="en-US" sz="1200" u="none" cap="none" strike="noStrike">
                          <a:solidFill>
                            <a:srgbClr val="1A1D22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tamaño original</a:t>
                      </a:r>
                      <a:endParaRPr sz="1200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7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200"/>
                        <a:buFont typeface="JetBrains Mono"/>
                        <a:buNone/>
                      </a:pPr>
                      <a:r>
                        <a:rPr lang="en-US" sz="1200" u="none" cap="none" strike="noStrike">
                          <a:solidFill>
                            <a:srgbClr val="1A1D22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num_tokens</a:t>
                      </a:r>
                      <a:endParaRPr sz="1200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200"/>
                        <a:buFont typeface="JetBrains Mono"/>
                        <a:buNone/>
                      </a:pPr>
                      <a:r>
                        <a:rPr lang="en-US" sz="1200" u="none" cap="none" strike="noStrike">
                          <a:solidFill>
                            <a:srgbClr val="1A1D22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8 B</a:t>
                      </a:r>
                      <a:endParaRPr sz="1200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200"/>
                        <a:buFont typeface="JetBrains Mono"/>
                        <a:buNone/>
                      </a:pPr>
                      <a:r>
                        <a:rPr lang="en-US" sz="1200" u="none" cap="none" strike="noStrike">
                          <a:solidFill>
                            <a:srgbClr val="1A1D22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cantidad de tokens RLE</a:t>
                      </a:r>
                      <a:endParaRPr sz="1200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200"/>
                        <a:buFont typeface="JetBrains Mono"/>
                        <a:buNone/>
                      </a:pPr>
                      <a:r>
                        <a:rPr lang="en-US" sz="1200" u="none" cap="none" strike="noStrike">
                          <a:solidFill>
                            <a:srgbClr val="1A1D22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sha256_original</a:t>
                      </a:r>
                      <a:endParaRPr sz="1200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200"/>
                        <a:buFont typeface="JetBrains Mono"/>
                        <a:buNone/>
                      </a:pPr>
                      <a:r>
                        <a:rPr lang="en-US" sz="1200" u="none" cap="none" strike="noStrike">
                          <a:solidFill>
                            <a:srgbClr val="1A1D22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32 B</a:t>
                      </a:r>
                      <a:endParaRPr sz="1200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200"/>
                        <a:buFont typeface="JetBrains Mono"/>
                        <a:buNone/>
                      </a:pPr>
                      <a:r>
                        <a:rPr lang="en-US" sz="1200" u="none" cap="none" strike="noStrike">
                          <a:solidFill>
                            <a:srgbClr val="1A1D22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verificación de integridad</a:t>
                      </a:r>
                      <a:endParaRPr sz="1200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7"/>
                    </a:solidFill>
                  </a:tcPr>
                </a:tc>
              </a:tr>
              <a:tr h="545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200"/>
                        <a:buFont typeface="JetBrains Mono"/>
                        <a:buNone/>
                      </a:pPr>
                      <a:r>
                        <a:rPr lang="en-US" sz="1200" u="none" cap="none" strike="noStrike">
                          <a:solidFill>
                            <a:srgbClr val="1A1D22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symbol_code_lengths</a:t>
                      </a:r>
                      <a:endParaRPr sz="1200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200"/>
                        <a:buFont typeface="JetBrains Mono"/>
                        <a:buNone/>
                      </a:pPr>
                      <a:r>
                        <a:rPr lang="en-US" sz="1200" u="none" cap="none" strike="noStrike">
                          <a:solidFill>
                            <a:srgbClr val="1A1D22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256 B</a:t>
                      </a:r>
                      <a:endParaRPr sz="1200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200"/>
                        <a:buFont typeface="JetBrains Mono"/>
                        <a:buNone/>
                      </a:pPr>
                      <a:r>
                        <a:rPr lang="en-US" sz="1200" u="none" cap="none" strike="noStrike">
                          <a:solidFill>
                            <a:srgbClr val="1A1D22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reconstruye el código de símbolos</a:t>
                      </a:r>
                      <a:endParaRPr sz="1200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200"/>
                        <a:buFont typeface="JetBrains Mono"/>
                        <a:buNone/>
                      </a:pPr>
                      <a:r>
                        <a:rPr lang="en-US" sz="1200" u="none" cap="none" strike="noStrike">
                          <a:solidFill>
                            <a:srgbClr val="1A1D22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run_code_lengths</a:t>
                      </a:r>
                      <a:endParaRPr sz="1200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200"/>
                        <a:buFont typeface="JetBrains Mono"/>
                        <a:buNone/>
                      </a:pPr>
                      <a:r>
                        <a:rPr lang="en-US" sz="1200" u="none" cap="none" strike="noStrike">
                          <a:solidFill>
                            <a:srgbClr val="1A1D22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256 B</a:t>
                      </a:r>
                      <a:endParaRPr sz="1200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200"/>
                        <a:buFont typeface="JetBrains Mono"/>
                        <a:buNone/>
                      </a:pPr>
                      <a:r>
                        <a:rPr lang="en-US" sz="1200" u="none" cap="none" strike="noStrike">
                          <a:solidFill>
                            <a:srgbClr val="1A1D22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reconstruye el código de rachas</a:t>
                      </a:r>
                      <a:endParaRPr sz="1200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7"/>
                    </a:solidFill>
                  </a:tcPr>
                </a:tc>
              </a:tr>
              <a:tr h="33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200"/>
                        <a:buFont typeface="JetBrains Mono"/>
                        <a:buNone/>
                      </a:pPr>
                      <a:r>
                        <a:rPr lang="en-US" sz="1200" u="none" cap="none" strike="noStrike">
                          <a:solidFill>
                            <a:srgbClr val="1A1D22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padding_bits</a:t>
                      </a:r>
                      <a:endParaRPr sz="1200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200"/>
                        <a:buFont typeface="JetBrains Mono"/>
                        <a:buNone/>
                      </a:pPr>
                      <a:r>
                        <a:rPr lang="en-US" sz="1200" u="none" cap="none" strike="noStrike">
                          <a:solidFill>
                            <a:srgbClr val="1A1D22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1 B</a:t>
                      </a:r>
                      <a:endParaRPr sz="1200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200"/>
                        <a:buFont typeface="JetBrains Mono"/>
                        <a:buNone/>
                      </a:pPr>
                      <a:r>
                        <a:rPr lang="en-US" sz="1200" u="none" cap="none" strike="noStrike">
                          <a:solidFill>
                            <a:srgbClr val="1A1D22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bits de relleno del último byte</a:t>
                      </a:r>
                      <a:endParaRPr sz="1200" u="none" cap="none" strike="noStrike">
                        <a:latin typeface="JetBrains Mono"/>
                        <a:ea typeface="JetBrains Mono"/>
                        <a:cs typeface="JetBrains Mono"/>
                        <a:sym typeface="JetBrains Mono"/>
                      </a:endParaRPr>
                    </a:p>
                  </a:txBody>
                  <a:tcPr marT="53350" marB="53350" marR="53350" marL="53350">
                    <a:lnL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</a:tr>
            </a:tbl>
          </a:graphicData>
        </a:graphic>
      </p:graphicFrame>
      <p:sp>
        <p:nvSpPr>
          <p:cNvPr id="94" name="Google Shape;94;p5"/>
          <p:cNvSpPr/>
          <p:nvPr/>
        </p:nvSpPr>
        <p:spPr>
          <a:xfrm>
            <a:off x="7962900" y="2526506"/>
            <a:ext cx="3416300" cy="1399480"/>
          </a:xfrm>
          <a:prstGeom prst="roundRect">
            <a:avLst>
              <a:gd fmla="val 7260" name="adj"/>
            </a:avLst>
          </a:prstGeom>
          <a:solidFill>
            <a:srgbClr val="1115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8682355" y="2780506"/>
            <a:ext cx="197739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5F1"/>
              </a:buClr>
              <a:buSzPts val="4800"/>
              <a:buFont typeface="IBM Plex Sans"/>
              <a:buNone/>
            </a:pPr>
            <a:r>
              <a:rPr b="1" i="0" lang="en-US" sz="4800" u="none" cap="none" strike="noStrike">
                <a:solidFill>
                  <a:srgbClr val="F6F5F1"/>
                </a:solidFill>
                <a:latin typeface="IBM Plex Sans"/>
                <a:ea typeface="IBM Plex Sans"/>
                <a:cs typeface="IBM Plex Sans"/>
                <a:sym typeface="IBM Plex Sans"/>
              </a:rPr>
              <a:t>565 B</a:t>
            </a:r>
            <a:endParaRPr b="0" i="0" sz="48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9106704" y="3440906"/>
            <a:ext cx="1128593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2CC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B9C2CC"/>
                </a:solidFill>
                <a:latin typeface="IBM Plex Sans"/>
                <a:ea typeface="IBM Plex Sans"/>
                <a:cs typeface="IBM Plex Sans"/>
                <a:sym typeface="IBM Plex Sans"/>
              </a:rPr>
              <a:t>cabecera fija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7962900" y="4078387"/>
            <a:ext cx="3518789" cy="665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En un archivo de 64 bytes (Prueba 1), esta cabecera pesa más que el contenido — costo esperado y explicable, no un error.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812800" y="6238280"/>
            <a:ext cx="281547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93A0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8A93A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Práctico de Máquina 2 — Grupo 10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8B3F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D98B3F"/>
                </a:solidFill>
                <a:latin typeface="IBM Plex Sans"/>
                <a:ea typeface="IBM Plex Sans"/>
                <a:cs typeface="IBM Plex Sans"/>
                <a:sym typeface="IBM Plex Sans"/>
              </a:rPr>
              <a:t>PUNTO 3 · DEMO EN VIVO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5" name="Google Shape;105;p6"/>
          <p:cNvSpPr txBox="1"/>
          <p:nvPr>
            <p:ph type="title"/>
          </p:nvPr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D22"/>
              </a:buClr>
              <a:buSzPts val="3200"/>
              <a:buFont typeface="IBM Plex Sans"/>
              <a:buNone/>
            </a:pPr>
            <a:r>
              <a:rPr b="1" i="0" lang="en-US" sz="3200">
                <a:solidFill>
                  <a:srgbClr val="1A1D22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Compresión y descompresión reales</a:t>
            </a:r>
            <a:endParaRPr sz="3200"/>
          </a:p>
        </p:txBody>
      </p:sp>
      <p:sp>
        <p:nvSpPr>
          <p:cNvPr id="106" name="Google Shape;106;p6"/>
          <p:cNvSpPr/>
          <p:nvPr/>
        </p:nvSpPr>
        <p:spPr>
          <a:xfrm>
            <a:off x="812800" y="1676301"/>
            <a:ext cx="10883392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Corpus: </a:t>
            </a:r>
            <a:r>
              <a:rPr b="1" i="0" lang="en-US" sz="13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prueba_3_alta_repeticion.txt</a:t>
            </a:r>
            <a:r>
              <a:rPr b="0" i="0" lang="en-US" sz="13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 (100 KiB) — se corre en vivo desde la terminal.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812800" y="2110581"/>
            <a:ext cx="5181600" cy="1743670"/>
          </a:xfrm>
          <a:prstGeom prst="roundRect">
            <a:avLst>
              <a:gd fmla="val 5827" name="adj"/>
            </a:avLst>
          </a:prstGeom>
          <a:solidFill>
            <a:srgbClr val="1115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1016000" y="2313781"/>
            <a:ext cx="491845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6EE7B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 python3 compressor.py prueba_3.txt p3.tdi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1016000" y="2603302"/>
            <a:ext cx="4918456" cy="1073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6F5F1"/>
              </a:buClr>
              <a:buSzPts val="1100"/>
              <a:buFont typeface="JetBrains Mono"/>
              <a:buNone/>
            </a:pPr>
            <a:r>
              <a:rPr b="0" i="0" lang="en-US" sz="1100" u="none" cap="none" strike="noStrike">
                <a:solidFill>
                  <a:srgbClr val="F6F5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Tamaño original: 102400 bytes</a:t>
            </a:r>
            <a:endParaRPr b="0" i="0" sz="11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6F5F1"/>
              </a:buClr>
              <a:buSzPts val="1100"/>
              <a:buFont typeface="JetBrains Mono"/>
              <a:buNone/>
            </a:pPr>
            <a:r>
              <a:rPr b="0" i="0" lang="en-US" sz="1100" u="none" cap="none" strike="noStrike">
                <a:solidFill>
                  <a:srgbClr val="F6F5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Tamaño comprimido: 47563 bytes</a:t>
            </a:r>
            <a:endParaRPr b="0" i="0" sz="11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6F5F1"/>
              </a:buClr>
              <a:buSzPts val="1100"/>
              <a:buFont typeface="JetBrains Mono"/>
              <a:buNone/>
            </a:pPr>
            <a:r>
              <a:rPr b="0" i="0" lang="en-US" sz="1100" u="none" cap="none" strike="noStrike">
                <a:solidFill>
                  <a:srgbClr val="F6F5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Ratio (R): 2.1529</a:t>
            </a:r>
            <a:endParaRPr b="0" i="0" sz="11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6F5F1"/>
              </a:buClr>
              <a:buSzPts val="1100"/>
              <a:buFont typeface="JetBrains Mono"/>
              <a:buNone/>
            </a:pPr>
            <a:r>
              <a:rPr b="0" i="0" lang="en-US" sz="1100" u="none" cap="none" strike="noStrike">
                <a:solidFill>
                  <a:srgbClr val="F6F5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Ahorro (A): 53.55 %</a:t>
            </a:r>
            <a:endParaRPr b="0" i="0" sz="11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6F5F1"/>
              </a:buClr>
              <a:buSzPts val="1100"/>
              <a:buFont typeface="JetBrains Mono"/>
              <a:buNone/>
            </a:pPr>
            <a:r>
              <a:rPr b="0" i="0" lang="en-US" sz="1100" u="none" cap="none" strike="noStrike">
                <a:solidFill>
                  <a:srgbClr val="F6F5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Tiempo: 46.4 ms</a:t>
            </a:r>
            <a:endParaRPr b="0" i="0" sz="11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6197600" y="2110581"/>
            <a:ext cx="5181600" cy="1743670"/>
          </a:xfrm>
          <a:prstGeom prst="roundRect">
            <a:avLst>
              <a:gd fmla="val 5827" name="adj"/>
            </a:avLst>
          </a:prstGeom>
          <a:solidFill>
            <a:srgbClr val="1115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6400800" y="2313781"/>
            <a:ext cx="491845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6EE7B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$ python3 decompressor.py p3.tdi p3_out.txt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400800" y="2603302"/>
            <a:ext cx="4918456" cy="654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6F5F1"/>
              </a:buClr>
              <a:buSzPts val="1100"/>
              <a:buFont typeface="JetBrains Mono"/>
              <a:buNone/>
            </a:pPr>
            <a:r>
              <a:rPr b="0" i="0" lang="en-US" sz="1100" u="none" cap="none" strike="noStrike">
                <a:solidFill>
                  <a:srgbClr val="F6F5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Tamaño reconstruido: 102400 bytes</a:t>
            </a:r>
            <a:endParaRPr b="0" i="0" sz="11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6F5F1"/>
              </a:buClr>
              <a:buSzPts val="1100"/>
              <a:buFont typeface="JetBrains Mono"/>
              <a:buNone/>
            </a:pPr>
            <a:r>
              <a:rPr b="0" i="0" lang="en-US" sz="1100" u="none" cap="none" strike="noStrike">
                <a:solidFill>
                  <a:srgbClr val="F6F5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Tiempo: 72.4 ms</a:t>
            </a:r>
            <a:endParaRPr b="0" i="0" sz="11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6F5F1"/>
              </a:buClr>
              <a:buSzPts val="1100"/>
              <a:buFont typeface="JetBrains Mono"/>
              <a:buNone/>
            </a:pPr>
            <a:r>
              <a:rPr b="0" i="0" lang="en-US" sz="1100" u="none" cap="none" strike="noStrike">
                <a:solidFill>
                  <a:srgbClr val="F6F5F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Integridad: </a:t>
            </a:r>
            <a:r>
              <a:rPr b="0" i="0" lang="en-US" sz="1100" u="none" cap="none" strike="noStrike">
                <a:solidFill>
                  <a:srgbClr val="6EE7B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OK</a:t>
            </a:r>
            <a:endParaRPr b="0" i="0" sz="11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812800" y="4057452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684"/>
              </a:buClr>
              <a:buSzPts val="1200"/>
              <a:buFont typeface="IBM Plex Sans"/>
              <a:buNone/>
            </a:pPr>
            <a:r>
              <a:rPr b="0" i="1" lang="en-US" sz="1200" u="none" cap="none" strike="noStrike">
                <a:solidFill>
                  <a:srgbClr val="6B7684"/>
                </a:solidFill>
                <a:latin typeface="IBM Plex Sans"/>
                <a:ea typeface="IBM Plex Sans"/>
                <a:cs typeface="IBM Plex Sans"/>
                <a:sym typeface="IBM Plex Sans"/>
              </a:rPr>
              <a:t>Salida de referencia — si el demo en vivo falla en el momento, estos son los valores reales ya verificados.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812800" y="6238280"/>
            <a:ext cx="281547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93A0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8A93A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Práctico de Máquina 2 — Grupo 10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8B3F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D98B3F"/>
                </a:solidFill>
                <a:latin typeface="IBM Plex Sans"/>
                <a:ea typeface="IBM Plex Sans"/>
                <a:cs typeface="IBM Plex Sans"/>
                <a:sym typeface="IBM Plex Sans"/>
              </a:rPr>
              <a:t>PUNTO 4 · INTEGRIDAD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1" name="Google Shape;121;p7"/>
          <p:cNvSpPr txBox="1"/>
          <p:nvPr>
            <p:ph type="title"/>
          </p:nvPr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D22"/>
              </a:buClr>
              <a:buSzPts val="3200"/>
              <a:buFont typeface="IBM Plex Sans"/>
              <a:buNone/>
            </a:pPr>
            <a:r>
              <a:rPr b="1" i="0" lang="en-US" sz="3200">
                <a:solidFill>
                  <a:srgbClr val="1A1D22"/>
                </a:solidFill>
                <a:latin typeface="IBM Plex Sans"/>
                <a:ea typeface="IBM Plex Sans"/>
                <a:cs typeface="IBM Plex Sans"/>
                <a:sym typeface="IBM Plex Sans"/>
              </a:rPr>
              <a:t>Idéntico byte a byte: SHA-256</a:t>
            </a:r>
            <a:endParaRPr sz="3200"/>
          </a:p>
        </p:txBody>
      </p:sp>
      <p:sp>
        <p:nvSpPr>
          <p:cNvPr id="122" name="Google Shape;122;p7"/>
          <p:cNvSpPr/>
          <p:nvPr/>
        </p:nvSpPr>
        <p:spPr>
          <a:xfrm>
            <a:off x="815975" y="1831876"/>
            <a:ext cx="10560050" cy="1951732"/>
          </a:xfrm>
          <a:prstGeom prst="roundRect">
            <a:avLst>
              <a:gd fmla="val 5043" name="adj"/>
            </a:avLst>
          </a:prstGeom>
          <a:solidFill>
            <a:srgbClr val="FFFFFE"/>
          </a:solidFill>
          <a:ln cap="flat" cmpd="sng" w="9525">
            <a:solidFill>
              <a:srgbClr val="E4E1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1123950" y="2139851"/>
            <a:ext cx="1831340" cy="27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SHA-256(original)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3003550" y="2157611"/>
            <a:ext cx="384048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D22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1A1D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a54f4a85a8695e1b...fb0605fa1f88e36e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1123950" y="2541091"/>
            <a:ext cx="1831340" cy="523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SHA-256(reconstruido)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3003550" y="2683272"/>
            <a:ext cx="384048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D22"/>
              </a:buClr>
              <a:buSzPts val="1200"/>
              <a:buFont typeface="JetBrains Mono"/>
              <a:buNone/>
            </a:pPr>
            <a:r>
              <a:rPr b="0" i="0" lang="en-US" sz="1200" u="none" cap="none" strike="noStrike">
                <a:solidFill>
                  <a:srgbClr val="1A1D2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a54f4a85a8695e1b...fb0605fa1f88e36e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CheckCircle" id="127" name="Google Shape;12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950" y="3206353"/>
            <a:ext cx="2540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7"/>
          <p:cNvSpPr/>
          <p:nvPr/>
        </p:nvSpPr>
        <p:spPr>
          <a:xfrm>
            <a:off x="1479550" y="3191173"/>
            <a:ext cx="392049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600"/>
              <a:buFont typeface="IBM Plex Sans"/>
              <a:buNone/>
            </a:pPr>
            <a:r>
              <a:rPr b="1" i="0" lang="en-US" sz="1600" u="none" cap="none" strike="noStrike">
                <a:solidFill>
                  <a:srgbClr val="2F8F5B"/>
                </a:solidFill>
                <a:latin typeface="IBM Plex Sans"/>
                <a:ea typeface="IBM Plex Sans"/>
                <a:cs typeface="IBM Plex Sans"/>
                <a:sym typeface="IBM Plex Sans"/>
              </a:rPr>
              <a:t>Coinciden — reconstrucción exacta</a:t>
            </a:r>
            <a:endParaRPr b="0" i="0" sz="1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812800" y="4040783"/>
            <a:ext cx="5337048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hash del original se guarda directo en la cabecera del .tdi (campo </a:t>
            </a:r>
            <a:r>
              <a:rPr b="1" i="0" lang="en-US" sz="13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sha256_original</a:t>
            </a:r>
            <a:r>
              <a:rPr b="0" i="0" lang="en-US" sz="13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).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6197600" y="4040783"/>
            <a:ext cx="5337048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descompresor se autoverifica: no necesita el archivo original para confirmar la integridad.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812800" y="6238280"/>
            <a:ext cx="281547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93A0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8A93A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Práctico de Máquina 2 — Grupo 10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8B3F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D98B3F"/>
                </a:solidFill>
                <a:latin typeface="IBM Plex Sans"/>
                <a:ea typeface="IBM Plex Sans"/>
                <a:cs typeface="IBM Plex Sans"/>
                <a:sym typeface="IBM Plex Sans"/>
              </a:rPr>
              <a:t>PUNTO 5 · BENCHMARK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8" name="Google Shape;138;p8"/>
          <p:cNvSpPr txBox="1"/>
          <p:nvPr>
            <p:ph type="title"/>
          </p:nvPr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D22"/>
              </a:buClr>
              <a:buSzPts val="3200"/>
              <a:buFont typeface="IBM Plex Sans"/>
              <a:buNone/>
            </a:pPr>
            <a:r>
              <a:rPr b="1" i="0" lang="en-US" sz="3200">
                <a:solidFill>
                  <a:srgbClr val="1A1D22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Propio vs. xz vs. gzip-6</a:t>
            </a:r>
            <a:endParaRPr sz="3200"/>
          </a:p>
        </p:txBody>
      </p:sp>
      <p:sp>
        <p:nvSpPr>
          <p:cNvPr id="139" name="Google Shape;139;p8"/>
          <p:cNvSpPr/>
          <p:nvPr/>
        </p:nvSpPr>
        <p:spPr>
          <a:xfrm>
            <a:off x="812800" y="1676301"/>
            <a:ext cx="10883392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Ratio de compresión (R = original / comprimido) y ahorro (A) sobre el corpus oficial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140" name="Google Shape;140;p8"/>
          <p:cNvGraphicFramePr/>
          <p:nvPr/>
        </p:nvGraphicFramePr>
        <p:xfrm>
          <a:off x="825500" y="21232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{CBD512EA-E9FF-46A0-B4CD-CC2894EAC613}</a:tableStyleId>
              </a:tblPr>
              <a:tblGrid>
                <a:gridCol w="3166100"/>
                <a:gridCol w="2427350"/>
                <a:gridCol w="2427350"/>
                <a:gridCol w="2532900"/>
              </a:tblGrid>
              <a:tr h="37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4"/>
                        </a:buClr>
                        <a:buSzPts val="1350"/>
                        <a:buFont typeface="IBM Plex Sans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6B7684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Archivo</a:t>
                      </a:r>
                      <a:endParaRPr sz="13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0000" marB="60000" marR="60000" marL="60000">
                    <a:lnL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E7CB1"/>
                        </a:buClr>
                        <a:buSzPts val="1350"/>
                        <a:buFont typeface="IBM Plex Sans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3E7CB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Propio</a:t>
                      </a:r>
                      <a:endParaRPr sz="13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0000" marB="60000" marR="60000" marL="60000">
                    <a:lnL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98B3F"/>
                        </a:buClr>
                        <a:buSzPts val="1350"/>
                        <a:buFont typeface="IBM Plex Sans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D98B3F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xz-6</a:t>
                      </a:r>
                      <a:endParaRPr sz="13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0000" marB="60000" marR="60000" marL="60000">
                    <a:lnL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7684"/>
                        </a:buClr>
                        <a:buSzPts val="1350"/>
                        <a:buFont typeface="IBM Plex Sans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6B7684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gzip-6</a:t>
                      </a:r>
                      <a:endParaRPr sz="13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0000" marB="60000" marR="60000" marL="60000">
                    <a:lnL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3DF"/>
                    </a:solidFill>
                  </a:tcPr>
                </a:tc>
              </a:tr>
              <a:tr h="37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350"/>
                        <a:buFont typeface="IBM Plex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Prueba 1 (64 B)</a:t>
                      </a:r>
                      <a:endParaRPr sz="13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0000" marB="60000" marR="60000" marL="60000">
                    <a:lnL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350"/>
                        <a:buFont typeface="IBM Plex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 0.11</a:t>
                      </a:r>
                      <a:endParaRPr sz="13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0000" marB="60000" marR="60000" marL="60000">
                    <a:lnL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350"/>
                        <a:buFont typeface="IBM Plex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 0.57</a:t>
                      </a:r>
                      <a:endParaRPr sz="13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0000" marB="60000" marR="60000" marL="60000">
                    <a:lnL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350"/>
                        <a:buFont typeface="IBM Plex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 1.08</a:t>
                      </a:r>
                      <a:endParaRPr sz="13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0000" marB="60000" marR="60000" marL="60000">
                    <a:lnL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B5B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</a:tr>
              <a:tr h="37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350"/>
                        <a:buFont typeface="IBM Plex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Prueba 2 — texto natural</a:t>
                      </a:r>
                      <a:endParaRPr sz="13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0000" marB="60000" marR="60000" marL="60000">
                    <a:lnL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350"/>
                        <a:buFont typeface="IBM Plex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 1.39</a:t>
                      </a:r>
                      <a:endParaRPr sz="13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0000" marB="60000" marR="60000" marL="60000">
                    <a:lnL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350"/>
                        <a:buFont typeface="IBM Plex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 76.88</a:t>
                      </a:r>
                      <a:endParaRPr sz="13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0000" marB="60000" marR="60000" marL="60000">
                    <a:lnL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350"/>
                        <a:buFont typeface="IBM Plex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 53.36</a:t>
                      </a:r>
                      <a:endParaRPr sz="13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0000" marB="60000" marR="60000" marL="60000">
                    <a:lnL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7"/>
                    </a:solidFill>
                  </a:tcPr>
                </a:tc>
              </a:tr>
              <a:tr h="37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350"/>
                        <a:buFont typeface="IBM Plex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Prueba 3 — alta repetición</a:t>
                      </a:r>
                      <a:endParaRPr sz="13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0000" marB="60000" marR="60000" marL="60000">
                    <a:lnL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350"/>
                        <a:buFont typeface="IBM Plex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 2.15</a:t>
                      </a:r>
                      <a:endParaRPr sz="13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0000" marB="60000" marR="60000" marL="60000">
                    <a:lnL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350"/>
                        <a:buFont typeface="IBM Plex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 492.31</a:t>
                      </a:r>
                      <a:endParaRPr sz="13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0000" marB="60000" marR="60000" marL="60000">
                    <a:lnL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350"/>
                        <a:buFont typeface="IBM Plex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 112.04</a:t>
                      </a:r>
                      <a:endParaRPr sz="13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0000" marB="60000" marR="60000" marL="60000">
                    <a:lnL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E"/>
                    </a:solidFill>
                  </a:tcPr>
                </a:tc>
              </a:tr>
              <a:tr h="37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350"/>
                        <a:buFont typeface="IBM Plex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Prueba 4 — baja repetición</a:t>
                      </a:r>
                      <a:endParaRPr sz="13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0000" marB="60000" marR="60000" marL="60000">
                    <a:lnL cap="flat" cmpd="sng" w="12700">
                      <a:solidFill>
                        <a:srgbClr val="C4C4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350"/>
                        <a:buFont typeface="IBM Plex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 1.00</a:t>
                      </a:r>
                      <a:endParaRPr sz="13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0000" marB="60000" marR="60000" marL="60000">
                    <a:lnL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350"/>
                        <a:buFont typeface="IBM Plex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 1.19</a:t>
                      </a:r>
                      <a:endParaRPr sz="13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0000" marB="60000" marR="60000" marL="60000">
                    <a:lnL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D22"/>
                        </a:buClr>
                        <a:buSzPts val="1350"/>
                        <a:buFont typeface="IBM Plex Sans"/>
                        <a:buNone/>
                      </a:pPr>
                      <a:r>
                        <a:rPr lang="en-US" sz="1350" u="none" cap="none" strike="noStrike">
                          <a:solidFill>
                            <a:srgbClr val="1A1D2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 1.20</a:t>
                      </a:r>
                      <a:endParaRPr sz="1350" u="none" cap="none" strike="noStrik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T="60000" marB="60000" marR="60000" marL="60000">
                    <a:lnL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9C8C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BF7"/>
                    </a:solidFill>
                  </a:tcPr>
                </a:tc>
              </a:tr>
            </a:tbl>
          </a:graphicData>
        </a:graphic>
      </p:graphicFrame>
      <p:sp>
        <p:nvSpPr>
          <p:cNvPr id="141" name="Google Shape;141;p8"/>
          <p:cNvSpPr/>
          <p:nvPr/>
        </p:nvSpPr>
        <p:spPr>
          <a:xfrm>
            <a:off x="812800" y="4189313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684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6B7684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Integridad SHA-256: OK en las 12 filas (3 soluciones × 4 archivos). Detalle completo en </a:t>
            </a:r>
            <a:r>
              <a:rPr b="1" i="0" lang="en-US" sz="1200" u="none" cap="none" strike="noStrike">
                <a:solidFill>
                  <a:srgbClr val="6B7684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results/benchmark_resultados.csv</a:t>
            </a:r>
            <a:r>
              <a:rPr b="0" i="0" lang="en-US" sz="1200" u="none" cap="none" strike="noStrike">
                <a:solidFill>
                  <a:srgbClr val="6B7684"/>
                </a:solidFill>
                <a:latin typeface="IBM Plex Sans"/>
                <a:ea typeface="IBM Plex Sans"/>
                <a:cs typeface="IBM Plex Sans"/>
                <a:sym typeface="IBM Plex Sans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812800" y="6238280"/>
            <a:ext cx="281547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93A0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8A93A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Práctico de Máquina 2 — Grupo 10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8B3F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D98B3F"/>
                </a:solidFill>
                <a:latin typeface="IBM Plex Sans"/>
                <a:ea typeface="IBM Plex Sans"/>
                <a:cs typeface="IBM Plex Sans"/>
                <a:sym typeface="IBM Plex Sans"/>
              </a:rPr>
              <a:t>PUNTO 6 · MÉTRICAS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9" name="Google Shape;149;p9"/>
          <p:cNvSpPr txBox="1"/>
          <p:nvPr>
            <p:ph type="title"/>
          </p:nvPr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D22"/>
              </a:buClr>
              <a:buSzPts val="3200"/>
              <a:buFont typeface="IBM Plex Sans"/>
              <a:buNone/>
            </a:pPr>
            <a:r>
              <a:rPr b="1" i="0" lang="en-US" sz="3200">
                <a:solidFill>
                  <a:srgbClr val="1A1D22"/>
                </a:solidFill>
                <a:latin typeface="IBM Plex Sans"/>
                <a:ea typeface="IBM Plex Sans"/>
                <a:cs typeface="IBM Plex Sans"/>
                <a:sym typeface="IBM Plex Sans"/>
              </a:rPr>
              <a:t>Ratio, ahorro y throughput</a:t>
            </a:r>
            <a:endParaRPr sz="3200"/>
          </a:p>
        </p:txBody>
      </p:sp>
      <p:sp>
        <p:nvSpPr>
          <p:cNvPr id="150" name="Google Shape;150;p9"/>
          <p:cNvSpPr/>
          <p:nvPr/>
        </p:nvSpPr>
        <p:spPr>
          <a:xfrm>
            <a:off x="812800" y="1676301"/>
            <a:ext cx="10883392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Caso: Prueba 2 — texto natural (102 400 bytes)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815975" y="2164556"/>
            <a:ext cx="3380284" cy="1713111"/>
          </a:xfrm>
          <a:prstGeom prst="roundRect">
            <a:avLst>
              <a:gd fmla="val 5745" name="adj"/>
            </a:avLst>
          </a:prstGeom>
          <a:solidFill>
            <a:srgbClr val="FCFBF7"/>
          </a:solidFill>
          <a:ln cap="flat" cmpd="sng" w="9525">
            <a:solidFill>
              <a:srgbClr val="E4E1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1047750" y="2396331"/>
            <a:ext cx="300423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E7CB1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3E7CB1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PROPIO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1047750" y="2660452"/>
            <a:ext cx="3004236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D22"/>
              </a:buClr>
              <a:buSzPts val="3600"/>
              <a:buFont typeface="IBM Plex Sans"/>
              <a:buNone/>
            </a:pPr>
            <a:r>
              <a:rPr b="1" i="0" lang="en-US" sz="3600" u="none" cap="none" strike="noStrike">
                <a:solidFill>
                  <a:srgbClr val="1A1D22"/>
                </a:solidFill>
                <a:latin typeface="IBM Plex Sans"/>
                <a:ea typeface="IBM Plex Sans"/>
                <a:cs typeface="IBM Plex Sans"/>
                <a:sym typeface="IBM Plex Sans"/>
              </a:rPr>
              <a:t>1.39×</a:t>
            </a:r>
            <a:endParaRPr b="0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1047750" y="3168452"/>
            <a:ext cx="300423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28.3 % de ahorro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1047750" y="3432572"/>
            <a:ext cx="300423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1.69 MB/s compresión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4405809" y="2164556"/>
            <a:ext cx="3380383" cy="1713111"/>
          </a:xfrm>
          <a:prstGeom prst="roundRect">
            <a:avLst>
              <a:gd fmla="val 5745" name="adj"/>
            </a:avLst>
          </a:prstGeom>
          <a:solidFill>
            <a:srgbClr val="FCFBF7"/>
          </a:solidFill>
          <a:ln cap="flat" cmpd="sng" w="9525">
            <a:solidFill>
              <a:srgbClr val="E4E1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4637584" y="2396331"/>
            <a:ext cx="3004338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8B3F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D98B3F"/>
                </a:solidFill>
                <a:latin typeface="IBM Plex Sans"/>
                <a:ea typeface="IBM Plex Sans"/>
                <a:cs typeface="IBM Plex Sans"/>
                <a:sym typeface="IBM Plex Sans"/>
              </a:rPr>
              <a:t>XZ-6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4637584" y="2660452"/>
            <a:ext cx="3004338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D22"/>
              </a:buClr>
              <a:buSzPts val="3600"/>
              <a:buFont typeface="IBM Plex Sans"/>
              <a:buNone/>
            </a:pPr>
            <a:r>
              <a:rPr b="1" i="0" lang="en-US" sz="3600" u="none" cap="none" strike="noStrike">
                <a:solidFill>
                  <a:srgbClr val="1A1D22"/>
                </a:solidFill>
                <a:latin typeface="IBM Plex Sans"/>
                <a:ea typeface="IBM Plex Sans"/>
                <a:cs typeface="IBM Plex Sans"/>
                <a:sym typeface="IBM Plex Sans"/>
              </a:rPr>
              <a:t>76.9×</a:t>
            </a:r>
            <a:endParaRPr b="0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4637584" y="3168452"/>
            <a:ext cx="3004338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98.7 % de ahorro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4637584" y="3432572"/>
            <a:ext cx="3004338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14.84 MB/s compresión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7995741" y="2164556"/>
            <a:ext cx="3380284" cy="1713111"/>
          </a:xfrm>
          <a:prstGeom prst="roundRect">
            <a:avLst>
              <a:gd fmla="val 5745" name="adj"/>
            </a:avLst>
          </a:prstGeom>
          <a:solidFill>
            <a:srgbClr val="FCFBF7"/>
          </a:solidFill>
          <a:ln cap="flat" cmpd="sng" w="9525">
            <a:solidFill>
              <a:srgbClr val="E4E1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8227516" y="2396331"/>
            <a:ext cx="300423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684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6B7684"/>
                </a:solidFill>
                <a:latin typeface="IBM Plex Sans"/>
                <a:ea typeface="IBM Plex Sans"/>
                <a:cs typeface="IBM Plex Sans"/>
                <a:sym typeface="IBM Plex Sans"/>
              </a:rPr>
              <a:t>GZIP-6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8227516" y="2660452"/>
            <a:ext cx="3004236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D22"/>
              </a:buClr>
              <a:buSzPts val="3600"/>
              <a:buFont typeface="IBM Plex Sans"/>
              <a:buNone/>
            </a:pPr>
            <a:r>
              <a:rPr b="1" i="0" lang="en-US" sz="3600" u="none" cap="none" strike="noStrike">
                <a:solidFill>
                  <a:srgbClr val="1A1D22"/>
                </a:solidFill>
                <a:latin typeface="IBM Plex Sans"/>
                <a:ea typeface="IBM Plex Sans"/>
                <a:cs typeface="IBM Plex Sans"/>
                <a:sym typeface="IBM Plex Sans"/>
              </a:rPr>
              <a:t>53.4×</a:t>
            </a:r>
            <a:endParaRPr b="0" i="0" sz="36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8227516" y="3168452"/>
            <a:ext cx="300423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98.1 % de ahorro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8227516" y="3432572"/>
            <a:ext cx="3004236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45.47 MB/s compresión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812800" y="4134842"/>
            <a:ext cx="10883392" cy="4875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R = original / comprimido · A = (1 − comprimido/original) × 100 · Throughput = tamaño (MB) / tiempo (s). El propio es más lento no solo por el algoritmo: es Python puro sin optimizar, contra implementaciones en C de xz y gzip.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812800" y="6238280"/>
            <a:ext cx="281547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93A0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8A93A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Práctico de Máquina 2 — Grupo 10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51C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8B3F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D98B3F"/>
                </a:solidFill>
                <a:latin typeface="IBM Plex Sans"/>
                <a:ea typeface="IBM Plex Sans"/>
                <a:cs typeface="IBM Plex Sans"/>
                <a:sym typeface="IBM Plex Sans"/>
              </a:rPr>
              <a:t>PUNTO 6 · WEISSMAN SCORE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4" name="Google Shape;174;p10"/>
          <p:cNvSpPr txBox="1"/>
          <p:nvPr>
            <p:ph type="title"/>
          </p:nvPr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6F5F1"/>
              </a:buClr>
              <a:buSzPts val="3200"/>
              <a:buFont typeface="IBM Plex Sans"/>
              <a:buNone/>
            </a:pPr>
            <a:r>
              <a:rPr b="1" i="0" lang="en-US" sz="3200">
                <a:solidFill>
                  <a:srgbClr val="F6F5F1"/>
                </a:solidFill>
                <a:latin typeface="IBM Plex Sans"/>
                <a:ea typeface="IBM Plex Sans"/>
                <a:cs typeface="IBM Plex Sans"/>
                <a:sym typeface="IBM Plex Sans"/>
              </a:rPr>
              <a:t>Ratio y tiempo en un solo número</a:t>
            </a:r>
            <a:endParaRPr sz="3200"/>
          </a:p>
        </p:txBody>
      </p:sp>
      <p:sp>
        <p:nvSpPr>
          <p:cNvPr id="175" name="Google Shape;175;p10"/>
          <p:cNvSpPr/>
          <p:nvPr/>
        </p:nvSpPr>
        <p:spPr>
          <a:xfrm>
            <a:off x="812800" y="1676301"/>
            <a:ext cx="10883392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2CC"/>
              </a:buClr>
              <a:buSzPts val="1500"/>
              <a:buFont typeface="JetBrains Mono"/>
              <a:buNone/>
            </a:pPr>
            <a:r>
              <a:rPr b="0" i="0" lang="en-US" sz="1500" u="none" cap="none" strike="noStrike">
                <a:solidFill>
                  <a:srgbClr val="B9C2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 = α · (R / Rref) · (log Tref / log T)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812800" y="2197001"/>
            <a:ext cx="3386634" cy="1280120"/>
          </a:xfrm>
          <a:prstGeom prst="roundRect">
            <a:avLst>
              <a:gd fmla="val 7937" name="adj"/>
            </a:avLst>
          </a:prstGeom>
          <a:solidFill>
            <a:srgbClr val="1C21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1707624" y="2425601"/>
            <a:ext cx="159698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2CC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B9C2CC"/>
                </a:solidFill>
                <a:latin typeface="IBM Plex Sans"/>
                <a:ea typeface="IBM Plex Sans"/>
                <a:cs typeface="IBM Plex Sans"/>
                <a:sym typeface="IBM Plex Sans"/>
              </a:rPr>
              <a:t>GZIP-6 (referencia)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1798598" y="2689721"/>
            <a:ext cx="1414939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5F1"/>
              </a:buClr>
              <a:buSzPts val="4400"/>
              <a:buFont typeface="IBM Plex Sans"/>
              <a:buNone/>
            </a:pPr>
            <a:r>
              <a:rPr b="1" i="0" lang="en-US" sz="4400" u="none" cap="none" strike="noStrike">
                <a:solidFill>
                  <a:srgbClr val="F6F5F1"/>
                </a:solidFill>
                <a:latin typeface="IBM Plex Sans"/>
                <a:ea typeface="IBM Plex Sans"/>
                <a:cs typeface="IBM Plex Sans"/>
                <a:sym typeface="IBM Plex Sans"/>
              </a:rPr>
              <a:t>1.00</a:t>
            </a:r>
            <a:endParaRPr b="0" i="0" sz="4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4402634" y="2197001"/>
            <a:ext cx="3386733" cy="1280120"/>
          </a:xfrm>
          <a:prstGeom prst="roundRect">
            <a:avLst>
              <a:gd fmla="val 7937" name="adj"/>
            </a:avLst>
          </a:prstGeom>
          <a:solidFill>
            <a:srgbClr val="1C21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5899190" y="2425601"/>
            <a:ext cx="39362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8B3F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D98B3F"/>
                </a:solidFill>
                <a:latin typeface="IBM Plex Sans"/>
                <a:ea typeface="IBM Plex Sans"/>
                <a:cs typeface="IBM Plex Sans"/>
                <a:sym typeface="IBM Plex Sans"/>
              </a:rPr>
              <a:t>XZ-6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5388531" y="2689721"/>
            <a:ext cx="1414939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5F1"/>
              </a:buClr>
              <a:buSzPts val="4400"/>
              <a:buFont typeface="IBM Plex Sans"/>
              <a:buNone/>
            </a:pPr>
            <a:r>
              <a:rPr b="1" i="0" lang="en-US" sz="4400" u="none" cap="none" strike="noStrike">
                <a:solidFill>
                  <a:srgbClr val="F6F5F1"/>
                </a:solidFill>
                <a:latin typeface="IBM Plex Sans"/>
                <a:ea typeface="IBM Plex Sans"/>
                <a:cs typeface="IBM Plex Sans"/>
                <a:sym typeface="IBM Plex Sans"/>
              </a:rPr>
              <a:t>0.49</a:t>
            </a:r>
            <a:endParaRPr b="0" i="0" sz="4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7992566" y="2197001"/>
            <a:ext cx="3386634" cy="1280120"/>
          </a:xfrm>
          <a:prstGeom prst="roundRect">
            <a:avLst>
              <a:gd fmla="val 7937" name="adj"/>
            </a:avLst>
          </a:prstGeom>
          <a:solidFill>
            <a:srgbClr val="1C21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9351377" y="2425601"/>
            <a:ext cx="66901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E7CB1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3E7CB1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PROPIO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8978364" y="2689721"/>
            <a:ext cx="1414939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F5F1"/>
              </a:buClr>
              <a:buSzPts val="4400"/>
              <a:buFont typeface="IBM Plex Sans"/>
              <a:buNone/>
            </a:pPr>
            <a:r>
              <a:rPr b="1" i="0" lang="en-US" sz="4400" u="none" cap="none" strike="noStrike">
                <a:solidFill>
                  <a:srgbClr val="F6F5F1"/>
                </a:solidFill>
                <a:latin typeface="IBM Plex Sans"/>
                <a:ea typeface="IBM Plex Sans"/>
                <a:cs typeface="IBM Plex Sans"/>
                <a:sym typeface="IBM Plex Sans"/>
              </a:rPr>
              <a:t>0.08</a:t>
            </a:r>
            <a:endParaRPr b="0" i="0" sz="4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812800" y="3731121"/>
            <a:ext cx="10883392" cy="5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9C2CC"/>
              </a:buClr>
              <a:buSzPts val="1400"/>
              <a:buFont typeface="IBM Plex Sans"/>
              <a:buNone/>
            </a:pPr>
            <a:r>
              <a:rPr b="0" i="0" lang="en-US" sz="1400" u="none" cap="none" strike="noStrike">
                <a:solidFill>
                  <a:srgbClr val="B9C2CC"/>
                </a:solidFill>
                <a:latin typeface="IBM Plex Sans"/>
                <a:ea typeface="IBM Plex Sans"/>
                <a:cs typeface="IBM Plex Sans"/>
                <a:sym typeface="IBM Plex Sans"/>
              </a:rPr>
              <a:t>Ojo con la lectura: xz comprime mucho mejor que gzip, pero su W queda por debajo de 1 porque la fórmula también pondera el tiempo — en este corpus gzip es más rápido en términos relativos. </a:t>
            </a:r>
            <a:r>
              <a:rPr b="1" i="0" lang="en-US" sz="1400" u="none" cap="none" strike="noStrike">
                <a:solidFill>
                  <a:srgbClr val="F6F5F1"/>
                </a:solidFill>
                <a:latin typeface="IBM Plex Sans"/>
                <a:ea typeface="IBM Plex Sans"/>
                <a:cs typeface="IBM Plex Sans"/>
                <a:sym typeface="IBM Plex Sans"/>
              </a:rPr>
              <a:t>W complementa al ratio, no lo reemplaza.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812800" y="6238280"/>
            <a:ext cx="281547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684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6B7684"/>
                </a:solidFill>
                <a:latin typeface="IBM Plex Sans"/>
                <a:ea typeface="IBM Plex Sans"/>
                <a:cs typeface="IBM Plex Sans"/>
                <a:sym typeface="IBM Plex Sans"/>
              </a:rPr>
              <a:t>Práctico de Máquina 2 — Grupo 10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5F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8B3F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D98B3F"/>
                </a:solidFill>
                <a:latin typeface="IBM Plex Sans"/>
                <a:ea typeface="IBM Plex Sans"/>
                <a:cs typeface="IBM Plex Sans"/>
                <a:sym typeface="IBM Plex Sans"/>
              </a:rPr>
              <a:t>PUNTO 7 · INTERPRETACIÓN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3" name="Google Shape;193;p11"/>
          <p:cNvSpPr txBox="1"/>
          <p:nvPr>
            <p:ph type="title"/>
          </p:nvPr>
        </p:nvSpPr>
        <p:spPr>
          <a:xfrm>
            <a:off x="812800" y="1127720"/>
            <a:ext cx="10883392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D22"/>
              </a:buClr>
              <a:buSzPts val="3000"/>
              <a:buFont typeface="IBM Plex Sans"/>
              <a:buNone/>
            </a:pPr>
            <a:r>
              <a:rPr b="1" i="0" lang="en-US" sz="3000">
                <a:solidFill>
                  <a:srgbClr val="1A1D22"/>
                </a:solidFill>
                <a:latin typeface="IBM Plex Sans"/>
                <a:ea typeface="IBM Plex Sans"/>
                <a:cs typeface="IBM Plex Sans"/>
                <a:sym typeface="IBM Plex Sans"/>
              </a:rPr>
              <a:t>¿En qué datos rinde mejor o peor nuestro algoritmo?</a:t>
            </a:r>
            <a:endParaRPr sz="3000"/>
          </a:p>
        </p:txBody>
      </p:sp>
      <p:sp>
        <p:nvSpPr>
          <p:cNvPr id="194" name="Google Shape;194;p11"/>
          <p:cNvSpPr/>
          <p:nvPr/>
        </p:nvSpPr>
        <p:spPr>
          <a:xfrm>
            <a:off x="815975" y="1753195"/>
            <a:ext cx="3397250" cy="1329531"/>
          </a:xfrm>
          <a:prstGeom prst="roundRect">
            <a:avLst>
              <a:gd fmla="val 7403" name="adj"/>
            </a:avLst>
          </a:prstGeom>
          <a:solidFill>
            <a:srgbClr val="FFFFFE"/>
          </a:solidFill>
          <a:ln cap="flat" cmpd="sng" w="9525">
            <a:solidFill>
              <a:srgbClr val="E4E1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"/>
          <p:cNvSpPr/>
          <p:nvPr/>
        </p:nvSpPr>
        <p:spPr>
          <a:xfrm>
            <a:off x="1022350" y="1959570"/>
            <a:ext cx="307403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8F5B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2F8F5B"/>
                </a:solidFill>
                <a:latin typeface="IBM Plex Sans"/>
                <a:ea typeface="IBM Plex Sans"/>
                <a:cs typeface="IBM Plex Sans"/>
                <a:sym typeface="IBM Plex Sans"/>
              </a:rPr>
              <a:t>Mejor: alta repetición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1022350" y="2236391"/>
            <a:ext cx="3074035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R = 2.15. RLE captura directo las rachas largas de bytes idénticos.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4397375" y="1753195"/>
            <a:ext cx="3397250" cy="1329531"/>
          </a:xfrm>
          <a:prstGeom prst="roundRect">
            <a:avLst>
              <a:gd fmla="val 7403" name="adj"/>
            </a:avLst>
          </a:prstGeom>
          <a:solidFill>
            <a:srgbClr val="FFFFFE"/>
          </a:solidFill>
          <a:ln cap="flat" cmpd="sng" w="9525">
            <a:solidFill>
              <a:srgbClr val="E4E1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4603750" y="1959570"/>
            <a:ext cx="307403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8B3F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D98B3F"/>
                </a:solidFill>
                <a:latin typeface="IBM Plex Sans"/>
                <a:ea typeface="IBM Plex Sans"/>
                <a:cs typeface="IBM Plex Sans"/>
                <a:sym typeface="IBM Plex Sans"/>
              </a:rPr>
              <a:t>Peor: texto natural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4603750" y="2236391"/>
            <a:ext cx="3074035" cy="665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R = 1.39 contra 76.9 de xz. RLE solo ve bytes consecutivos, no frases que se repiten lejos.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7978775" y="1753195"/>
            <a:ext cx="3397250" cy="1329531"/>
          </a:xfrm>
          <a:prstGeom prst="roundRect">
            <a:avLst>
              <a:gd fmla="val 7403" name="adj"/>
            </a:avLst>
          </a:prstGeom>
          <a:solidFill>
            <a:srgbClr val="FFFFFE"/>
          </a:solidFill>
          <a:ln cap="flat" cmpd="sng" w="9525">
            <a:solidFill>
              <a:srgbClr val="E4E1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"/>
          <p:cNvSpPr/>
          <p:nvPr/>
        </p:nvSpPr>
        <p:spPr>
          <a:xfrm>
            <a:off x="8185150" y="1959570"/>
            <a:ext cx="307403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684"/>
              </a:buClr>
              <a:buSzPts val="1400"/>
              <a:buFont typeface="IBM Plex Sans"/>
              <a:buNone/>
            </a:pPr>
            <a:r>
              <a:rPr b="1" i="0" lang="en-US" sz="1400" u="none" cap="none" strike="noStrike">
                <a:solidFill>
                  <a:srgbClr val="6B7684"/>
                </a:solidFill>
                <a:latin typeface="IBM Plex Sans"/>
                <a:ea typeface="IBM Plex Sans"/>
                <a:cs typeface="IBM Plex Sans"/>
                <a:sym typeface="IBM Plex Sans"/>
              </a:rPr>
              <a:t>Neutro: baja repetición</a:t>
            </a:r>
            <a:endParaRPr b="0" i="0" sz="14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8185150" y="2236391"/>
            <a:ext cx="3074035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IBM Plex Sans"/>
                <a:ea typeface="IBM Plex Sans"/>
                <a:cs typeface="IBM Plex Sans"/>
                <a:sym typeface="IBM Plex Sans"/>
              </a:rPr>
              <a:t>R ≈ 1 para los tres. Entropía cercana al máximo: no hay redundancia que explotar.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812800" y="3289102"/>
            <a:ext cx="10566400" cy="1200150"/>
          </a:xfrm>
          <a:prstGeom prst="roundRect">
            <a:avLst>
              <a:gd fmla="val 8466" name="adj"/>
            </a:avLst>
          </a:prstGeom>
          <a:solidFill>
            <a:srgbClr val="11151C"/>
          </a:solidFill>
          <a:ln>
            <a:noFill/>
          </a:ln>
        </p:spPr>
        <p:txBody>
          <a:bodyPr anchorCtr="0" anchor="t" bIns="173425" lIns="198825" spcFirstLastPara="1" rIns="0" wrap="square" tIns="19882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6F5F1"/>
              </a:buClr>
              <a:buSzPts val="1300"/>
              <a:buFont typeface="IBM Plex Sans"/>
              <a:buNone/>
            </a:pPr>
            <a:r>
              <a:rPr b="1" i="0" lang="en-US" sz="1300" u="none" cap="none" strike="noStrike">
                <a:solidFill>
                  <a:srgbClr val="F6F5F1"/>
                </a:solidFill>
                <a:latin typeface="IBM Plex Sans"/>
                <a:ea typeface="IBM Plex Sans"/>
                <a:cs typeface="IBM Plex Sans"/>
                <a:sym typeface="IBM Plex Sans"/>
              </a:rPr>
              <a:t>Por qué xz gana tan fuerte en texto natural:</a:t>
            </a:r>
            <a:r>
              <a:rPr b="0" i="0" lang="en-US" sz="1300" u="none" cap="none" strike="noStrike">
                <a:solidFill>
                  <a:srgbClr val="F6F5F1"/>
                </a:solidFill>
                <a:latin typeface="IBM Plex Sans"/>
                <a:ea typeface="IBM Plex Sans"/>
                <a:cs typeface="IBM Plex Sans"/>
                <a:sym typeface="IBM Plex Sans"/>
              </a:rPr>
              <a:t> combina un contexto tipo Markov de orden bajo (condiciona cada byte en bits del anterior) con un diccionario que busca coincidencias a cualquier distancia dentro de 8 MiB — algo que ningún orden de Markov finito captura. RLE+Shannon solo trabaja con redundancia local de orden 0.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819150" y="4698802"/>
            <a:ext cx="10553700" cy="596900"/>
          </a:xfrm>
          <a:prstGeom prst="roundRect">
            <a:avLst>
              <a:gd fmla="val 15957" name="adj"/>
            </a:avLst>
          </a:prstGeom>
          <a:noFill/>
          <a:ln cap="flat" cmpd="sng" w="12700">
            <a:solidFill>
              <a:srgbClr val="D98B3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rning" id="205" name="Google Shape;20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3300" y="488295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1"/>
          <p:cNvSpPr/>
          <p:nvPr/>
        </p:nvSpPr>
        <p:spPr>
          <a:xfrm>
            <a:off x="1358900" y="4890591"/>
            <a:ext cx="100076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6A3A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8A6A3A"/>
                </a:solidFill>
                <a:latin typeface="IBM Plex Sans"/>
                <a:ea typeface="IBM Plex Sans"/>
                <a:cs typeface="IBM Plex Sans"/>
                <a:sym typeface="IBM Plex Sans"/>
              </a:rPr>
              <a:t>Pendiente: completar con la tabla global de la cátedra una vez publicada — comparar nuestro R y W contra el resto de los grupos.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812800" y="6238280"/>
            <a:ext cx="2815471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A93A0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8A93A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Práctico de Máquina 2 — Grupo 10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51C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98B3F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D98B3F"/>
                </a:solidFill>
                <a:latin typeface="IBM Plex Sans"/>
                <a:ea typeface="IBM Plex Sans"/>
                <a:cs typeface="IBM Plex Sans"/>
                <a:sym typeface="IBM Plex Sans"/>
              </a:rPr>
              <a:t>CIERRE</a:t>
            </a:r>
            <a:endParaRPr b="0" i="0" sz="12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4" name="Google Shape;214;p12"/>
          <p:cNvSpPr txBox="1"/>
          <p:nvPr>
            <p:ph type="title"/>
          </p:nvPr>
        </p:nvSpPr>
        <p:spPr>
          <a:xfrm>
            <a:off x="812800" y="1229320"/>
            <a:ext cx="10883392" cy="528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6F5F1"/>
              </a:buClr>
              <a:buSzPts val="3600"/>
              <a:buFont typeface="IBM Plex Sans"/>
              <a:buNone/>
            </a:pPr>
            <a:r>
              <a:rPr b="1" i="0" lang="en-US" sz="3600">
                <a:solidFill>
                  <a:srgbClr val="F6F5F1"/>
                </a:solidFill>
                <a:latin typeface="IBM Plex Sans"/>
                <a:ea typeface="IBM Plex Sans"/>
                <a:cs typeface="IBM Plex Sans"/>
                <a:sym typeface="IBM Plex Sans"/>
              </a:rPr>
              <a:t>Tres cosas para llevarse</a:t>
            </a:r>
            <a:endParaRPr sz="3600"/>
          </a:p>
        </p:txBody>
      </p:sp>
      <p:pic>
        <p:nvPicPr>
          <p:cNvPr descr="CheckCircle" id="215" name="Google Shape;21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800" y="195441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2"/>
          <p:cNvSpPr/>
          <p:nvPr/>
        </p:nvSpPr>
        <p:spPr>
          <a:xfrm>
            <a:off x="1168400" y="1935361"/>
            <a:ext cx="10162223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5F1"/>
              </a:buClr>
              <a:buSzPts val="1500"/>
              <a:buFont typeface="IBM Plex Sans"/>
              <a:buNone/>
            </a:pPr>
            <a:r>
              <a:rPr b="0" i="0" lang="en-US" sz="1500" u="none" cap="none" strike="noStrike">
                <a:solidFill>
                  <a:srgbClr val="F6F5F1"/>
                </a:solidFill>
                <a:latin typeface="IBM Plex Sans"/>
                <a:ea typeface="IBM Plex Sans"/>
                <a:cs typeface="IBM Plex Sans"/>
                <a:sym typeface="IBM Plex Sans"/>
              </a:rPr>
              <a:t>El compresor propio funciona de punta a punta: comprime, descomprime y reconstruye byte a byte.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Chart" id="217" name="Google Shape;21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800" y="234811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2"/>
          <p:cNvSpPr/>
          <p:nvPr/>
        </p:nvSpPr>
        <p:spPr>
          <a:xfrm>
            <a:off x="1168400" y="2329061"/>
            <a:ext cx="9172218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5F1"/>
              </a:buClr>
              <a:buSzPts val="1500"/>
              <a:buFont typeface="IBM Plex Sans"/>
              <a:buNone/>
            </a:pPr>
            <a:r>
              <a:rPr b="0" i="0" lang="en-US" sz="1500" u="none" cap="none" strike="noStrike">
                <a:solidFill>
                  <a:srgbClr val="F6F5F1"/>
                </a:solidFill>
                <a:latin typeface="IBM Plex Sans"/>
                <a:ea typeface="IBM Plex Sans"/>
                <a:cs typeface="IBM Plex Sans"/>
                <a:sym typeface="IBM Plex Sans"/>
              </a:rPr>
              <a:t>xz gana en todos los casos, pero la distancia depende del tipo de redundancia del archivo.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Lightbulb" id="219" name="Google Shape;21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0" y="2741811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2"/>
          <p:cNvSpPr/>
          <p:nvPr/>
        </p:nvSpPr>
        <p:spPr>
          <a:xfrm>
            <a:off x="1168400" y="2722761"/>
            <a:ext cx="10618708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5F1"/>
              </a:buClr>
              <a:buSzPts val="1500"/>
              <a:buFont typeface="IBM Plex Sans"/>
              <a:buNone/>
            </a:pPr>
            <a:r>
              <a:rPr b="0" i="0" lang="en-US" sz="1500" u="none" cap="none" strike="noStrike">
                <a:solidFill>
                  <a:srgbClr val="F6F5F1"/>
                </a:solidFill>
                <a:latin typeface="IBM Plex Sans"/>
                <a:ea typeface="IBM Plex Sans"/>
                <a:cs typeface="IBM Plex Sans"/>
                <a:sym typeface="IBM Plex Sans"/>
              </a:rPr>
              <a:t>La diferencia no es casualidad: RLE ve orden 0 local, xz combina contexto y diccionario de largo alcance.</a:t>
            </a:r>
            <a:endParaRPr b="0" i="0" sz="15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812800" y="5814120"/>
            <a:ext cx="422779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9C2CC"/>
              </a:buClr>
              <a:buSzPts val="1300"/>
              <a:buFont typeface="IBM Plex Sans"/>
              <a:buNone/>
            </a:pPr>
            <a:r>
              <a:rPr b="0" i="0" lang="en-US" sz="1300" u="none" cap="none" strike="noStrike">
                <a:solidFill>
                  <a:srgbClr val="B9C2CC"/>
                </a:solidFill>
                <a:latin typeface="IBM Plex Sans"/>
                <a:ea typeface="IBM Plex Sans"/>
                <a:cs typeface="IBM Plex Sans"/>
                <a:sym typeface="IBM Plex Sans"/>
              </a:rPr>
              <a:t>github.com/BaltasarOrtiz/GRUPO-10-TDI-2026</a:t>
            </a:r>
            <a:endParaRPr b="0" i="0" sz="13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8500507" y="5689600"/>
            <a:ext cx="2878693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5F1"/>
              </a:buClr>
              <a:buSzPts val="2000"/>
              <a:buFont typeface="IBM Plex Sans"/>
              <a:buNone/>
            </a:pPr>
            <a:r>
              <a:rPr b="1" i="0" lang="en-US" sz="2000" u="none" cap="none" strike="noStrike">
                <a:solidFill>
                  <a:srgbClr val="F6F5F1"/>
                </a:solidFill>
                <a:latin typeface="IBM Plex Sans"/>
                <a:ea typeface="IBM Plex Sans"/>
                <a:cs typeface="IBM Plex Sans"/>
                <a:sym typeface="IBM Plex Sans"/>
              </a:rPr>
              <a:t>Gracias — preguntas</a:t>
            </a:r>
            <a:endParaRPr b="0" i="0" sz="2000" u="none" cap="none" strike="noStrik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áctico de Máquina 2 — RLE+Shannon vs xz">
  <a:themeElements>
    <a:clrScheme name="Práctico de Máquina 2 — RLE+Shannon vs xz">
      <a:dk1>
        <a:srgbClr val="1A1D22"/>
      </a:dk1>
      <a:lt1>
        <a:srgbClr val="F6F5F1"/>
      </a:lt1>
      <a:dk2>
        <a:srgbClr val="515356"/>
      </a:dk2>
      <a:lt2>
        <a:srgbClr val="E0DFDC"/>
      </a:lt2>
      <a:accent1>
        <a:srgbClr val="D98B3F"/>
      </a:accent1>
      <a:accent2>
        <a:srgbClr val="6EE7B7"/>
      </a:accent2>
      <a:accent3>
        <a:srgbClr val="2F8F5B"/>
      </a:accent3>
      <a:accent4>
        <a:srgbClr val="3E7CB1"/>
      </a:accent4>
      <a:accent5>
        <a:srgbClr val="8A6A3A"/>
      </a:accent5>
      <a:accent6>
        <a:srgbClr val="4A5568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áctico de Máquina 2 — RLE+Shannon vs xz">
  <a:themeElements>
    <a:clrScheme name="Práctico de Máquina 2 — RLE+Shannon vs xz">
      <a:dk1>
        <a:srgbClr val="1A1D22"/>
      </a:dk1>
      <a:lt1>
        <a:srgbClr val="F6F5F1"/>
      </a:lt1>
      <a:dk2>
        <a:srgbClr val="515356"/>
      </a:dk2>
      <a:lt2>
        <a:srgbClr val="E0DFDC"/>
      </a:lt2>
      <a:accent1>
        <a:srgbClr val="D98B3F"/>
      </a:accent1>
      <a:accent2>
        <a:srgbClr val="6EE7B7"/>
      </a:accent2>
      <a:accent3>
        <a:srgbClr val="2F8F5B"/>
      </a:accent3>
      <a:accent4>
        <a:srgbClr val="3E7CB1"/>
      </a:accent4>
      <a:accent5>
        <a:srgbClr val="8A6A3A"/>
      </a:accent5>
      <a:accent6>
        <a:srgbClr val="4A5568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2026-10-03T14:49:11Z</dcterms:created>
</cp:coreProperties>
</file>